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CASHFOARE  ·  Rec Classification: Front Office / Middle Office / Back Office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reconciliations mapped by ownership layer across CEQ · LnD · MTN · OTC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04120" y="118872"/>
            <a:ext cx="1920240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04120" y="1188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·  OMRC AI/ML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1440" y="694944"/>
            <a:ext cx="3962400" cy="237744"/>
          </a:xfrm>
          <a:prstGeom prst="rect">
            <a:avLst/>
          </a:prstGeom>
          <a:solidFill>
            <a:srgbClr val="0C2D45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694944"/>
            <a:ext cx="396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 —  Front Office   ·   3 recs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99560" y="694944"/>
            <a:ext cx="3962400" cy="237744"/>
          </a:xfrm>
          <a:prstGeom prst="rect">
            <a:avLst/>
          </a:prstGeom>
          <a:solidFill>
            <a:srgbClr val="432A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9560" y="694944"/>
            <a:ext cx="396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 —  Middle Office   ·   6 recs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7680" y="694944"/>
            <a:ext cx="3962400" cy="237744"/>
          </a:xfrm>
          <a:prstGeom prst="rect">
            <a:avLst/>
          </a:prstGeom>
          <a:solidFill>
            <a:srgbClr val="0433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7680" y="694944"/>
            <a:ext cx="396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 —  Back Office   ·   8 recs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" y="969264"/>
            <a:ext cx="3962400" cy="475488"/>
          </a:xfrm>
          <a:prstGeom prst="rect">
            <a:avLst/>
          </a:prstGeom>
          <a:solidFill>
            <a:srgbClr val="0C3A58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" y="969264"/>
            <a:ext cx="39624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1168" y="1225296"/>
            <a:ext cx="3742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05200" y="1051560"/>
            <a:ext cx="420624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5200" y="105156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99560" y="969264"/>
            <a:ext cx="3962400" cy="475488"/>
          </a:xfrm>
          <a:prstGeom prst="rect">
            <a:avLst/>
          </a:prstGeom>
          <a:solidFill>
            <a:srgbClr val="5C3A0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99560" y="969264"/>
            <a:ext cx="3962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9288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09288" y="1225296"/>
            <a:ext cx="3742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OFFICE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13320" y="1051560"/>
            <a:ext cx="420624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3320" y="105156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07680" y="969264"/>
            <a:ext cx="3962400" cy="475488"/>
          </a:xfrm>
          <a:prstGeom prst="rect">
            <a:avLst/>
          </a:prstGeom>
          <a:solidFill>
            <a:srgbClr val="064030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7680" y="969264"/>
            <a:ext cx="39624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7408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17408" y="1225296"/>
            <a:ext cx="3742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521440" y="1051560"/>
            <a:ext cx="420624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521440" y="105156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1440" y="1517904"/>
            <a:ext cx="3962400" cy="512064"/>
          </a:xfrm>
          <a:prstGeom prst="rect">
            <a:avLst/>
          </a:prstGeom>
          <a:solidFill>
            <a:srgbClr val="0F172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" y="1517904"/>
            <a:ext cx="45720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4592" y="1581912"/>
            <a:ext cx="384048" cy="182880"/>
          </a:xfrm>
          <a:prstGeom prst="rect">
            <a:avLst/>
          </a:prstGeom>
          <a:solidFill>
            <a:srgbClr val="0C3A5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" y="15819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85216" y="1563624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 – Equities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5216" y="1783080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/ Trade Capture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64592" y="1865376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186537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91440" y="2080260"/>
            <a:ext cx="3962400" cy="512064"/>
          </a:xfrm>
          <a:prstGeom prst="rect">
            <a:avLst/>
          </a:prstGeom>
          <a:solidFill>
            <a:srgbClr val="111B30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" y="2080260"/>
            <a:ext cx="45720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2144268"/>
            <a:ext cx="384048" cy="182880"/>
          </a:xfrm>
          <a:prstGeom prst="rect">
            <a:avLst/>
          </a:prstGeom>
          <a:solidFill>
            <a:srgbClr val="0C3A5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21442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5216" y="2125980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Rec – Dividend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5216" y="2345436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FOBO / Corporate Actions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64592" y="2427732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" y="24277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576072" y="2427732"/>
            <a:ext cx="365760" cy="128016"/>
          </a:xfrm>
          <a:prstGeom prst="rect">
            <a:avLst/>
          </a:prstGeom>
          <a:solidFill>
            <a:srgbClr val="78350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24277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91440" y="2642616"/>
            <a:ext cx="3962400" cy="512064"/>
          </a:xfrm>
          <a:prstGeom prst="rect">
            <a:avLst/>
          </a:prstGeom>
          <a:solidFill>
            <a:srgbClr val="0F1729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" y="2642616"/>
            <a:ext cx="45720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4592" y="2706624"/>
            <a:ext cx="384048" cy="182880"/>
          </a:xfrm>
          <a:prstGeom prst="rect">
            <a:avLst/>
          </a:prstGeom>
          <a:solidFill>
            <a:srgbClr val="0C3A5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4592" y="27066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FO3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85216" y="2688336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Fidessa vs FTP – Stock/Index Futures (ETD)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85216" y="2907792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Fidessa / FTP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64592" y="2990088"/>
            <a:ext cx="365760" cy="128016"/>
          </a:xfrm>
          <a:prstGeom prst="rect">
            <a:avLst/>
          </a:prstGeom>
          <a:solidFill>
            <a:srgbClr val="4C1D9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4592" y="29900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76072" y="2990088"/>
            <a:ext cx="365760" cy="128016"/>
          </a:xfrm>
          <a:prstGeom prst="rect">
            <a:avLst/>
          </a:prstGeom>
          <a:solidFill>
            <a:srgbClr val="831843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" y="29900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ETD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4099560" y="1517904"/>
            <a:ext cx="3962400" cy="512064"/>
          </a:xfrm>
          <a:prstGeom prst="rect">
            <a:avLst/>
          </a:prstGeom>
          <a:solidFill>
            <a:srgbClr val="0F1729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9560" y="1517904"/>
            <a:ext cx="4572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72712" y="1581912"/>
            <a:ext cx="384048" cy="182880"/>
          </a:xfrm>
          <a:prstGeom prst="rect">
            <a:avLst/>
          </a:prstGeom>
          <a:solidFill>
            <a:srgbClr val="5C3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72712" y="15819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593336" y="1563624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Rec – CEQ / SED / SEF (FO feed)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93336" y="1783080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 FO feeds / MO P&amp;L system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172712" y="1865376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72712" y="186537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099560" y="2080260"/>
            <a:ext cx="3962400" cy="512064"/>
          </a:xfrm>
          <a:prstGeom prst="rect">
            <a:avLst/>
          </a:prstGeom>
          <a:solidFill>
            <a:srgbClr val="111B3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99560" y="2080260"/>
            <a:ext cx="4572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72712" y="2144268"/>
            <a:ext cx="384048" cy="182880"/>
          </a:xfrm>
          <a:prstGeom prst="rect">
            <a:avLst/>
          </a:prstGeom>
          <a:solidFill>
            <a:srgbClr val="5C3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72712" y="21442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MO2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593336" y="2125980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Rec – CEQ / SED / SEF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93336" y="2345436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Attribution / MO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172712" y="2427732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72712" y="24277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4099560" y="2642616"/>
            <a:ext cx="3962400" cy="512064"/>
          </a:xfrm>
          <a:prstGeom prst="rect">
            <a:avLst/>
          </a:prstGeom>
          <a:solidFill>
            <a:srgbClr val="0F1729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99560" y="2642616"/>
            <a:ext cx="4572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72712" y="2706624"/>
            <a:ext cx="384048" cy="182880"/>
          </a:xfrm>
          <a:prstGeom prst="rect">
            <a:avLst/>
          </a:prstGeom>
          <a:solidFill>
            <a:srgbClr val="5C3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72712" y="27066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MO3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593336" y="2688336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 vs FTP – Cash Equity (P&amp;L – MTM &amp; Cash)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593336" y="2907792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 / FTP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172712" y="2990088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172712" y="29900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099560" y="3204972"/>
            <a:ext cx="3962400" cy="512064"/>
          </a:xfrm>
          <a:prstGeom prst="rect">
            <a:avLst/>
          </a:prstGeom>
          <a:solidFill>
            <a:srgbClr val="111B3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099560" y="3204972"/>
            <a:ext cx="4572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72712" y="3268980"/>
            <a:ext cx="384048" cy="182880"/>
          </a:xfrm>
          <a:prstGeom prst="rect">
            <a:avLst/>
          </a:prstGeom>
          <a:solidFill>
            <a:srgbClr val="5C3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72712" y="32689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MO4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4593336" y="3250692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 vs FTP – EQD (P&amp;L – MTM &amp; Cash)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593336" y="3470148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 / FTP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172712" y="3552444"/>
            <a:ext cx="365760" cy="128016"/>
          </a:xfrm>
          <a:prstGeom prst="rect">
            <a:avLst/>
          </a:prstGeom>
          <a:solidFill>
            <a:srgbClr val="4C1D9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172712" y="355244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4584192" y="3552444"/>
            <a:ext cx="365760" cy="128016"/>
          </a:xfrm>
          <a:prstGeom prst="rect">
            <a:avLst/>
          </a:prstGeom>
          <a:solidFill>
            <a:srgbClr val="164E63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84192" y="355244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EQD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4099560" y="3767328"/>
            <a:ext cx="3962400" cy="512064"/>
          </a:xfrm>
          <a:prstGeom prst="rect">
            <a:avLst/>
          </a:prstGeom>
          <a:solidFill>
            <a:srgbClr val="0F1729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99560" y="3767328"/>
            <a:ext cx="4572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72712" y="3831336"/>
            <a:ext cx="384048" cy="182880"/>
          </a:xfrm>
          <a:prstGeom prst="rect">
            <a:avLst/>
          </a:prstGeom>
          <a:solidFill>
            <a:srgbClr val="5C3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72712" y="38313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MO5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4593336" y="3813048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 vs FTP – ETD PnL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593336" y="4032504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 / FTP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4172712" y="4114800"/>
            <a:ext cx="365760" cy="128016"/>
          </a:xfrm>
          <a:prstGeom prst="rect">
            <a:avLst/>
          </a:prstGeom>
          <a:solidFill>
            <a:srgbClr val="4C1D9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72712" y="411480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4584192" y="4114800"/>
            <a:ext cx="365760" cy="128016"/>
          </a:xfrm>
          <a:prstGeom prst="rect">
            <a:avLst/>
          </a:prstGeom>
          <a:solidFill>
            <a:srgbClr val="831843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584192" y="411480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B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ETD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4099560" y="4329684"/>
            <a:ext cx="3962400" cy="512064"/>
          </a:xfrm>
          <a:prstGeom prst="rect">
            <a:avLst/>
          </a:prstGeom>
          <a:solidFill>
            <a:srgbClr val="111B3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099560" y="4329684"/>
            <a:ext cx="4572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172712" y="4393692"/>
            <a:ext cx="384048" cy="182880"/>
          </a:xfrm>
          <a:prstGeom prst="rect">
            <a:avLst/>
          </a:prstGeom>
          <a:solidFill>
            <a:srgbClr val="5C3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172712" y="43936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MO6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4593336" y="4375404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Global1 vs FTP – HLR / Prime Services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4593336" y="4594860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Global1 / FTP / HLR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172712" y="4677156"/>
            <a:ext cx="365760" cy="128016"/>
          </a:xfrm>
          <a:prstGeom prst="rect">
            <a:avLst/>
          </a:prstGeom>
          <a:solidFill>
            <a:srgbClr val="065F4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172712" y="467715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LnD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4584192" y="4677156"/>
            <a:ext cx="365760" cy="128016"/>
          </a:xfrm>
          <a:prstGeom prst="rect">
            <a:avLst/>
          </a:prstGeom>
          <a:solidFill>
            <a:srgbClr val="1E293B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584192" y="467715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8107680" y="1517904"/>
            <a:ext cx="3962400" cy="512064"/>
          </a:xfrm>
          <a:prstGeom prst="rect">
            <a:avLst/>
          </a:prstGeom>
          <a:solidFill>
            <a:srgbClr val="0F1729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107680" y="1517904"/>
            <a:ext cx="4572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180832" y="1581912"/>
            <a:ext cx="384048" cy="182880"/>
          </a:xfrm>
          <a:prstGeom prst="rect">
            <a:avLst/>
          </a:prstGeom>
          <a:solidFill>
            <a:srgbClr val="064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180832" y="15819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BO1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8601456" y="1563624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vs Fiscal Cash Control (Cash Equities)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8601456" y="1783080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 Fiscal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8180832" y="1865376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180832" y="186537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8107680" y="2080260"/>
            <a:ext cx="3962400" cy="512064"/>
          </a:xfrm>
          <a:prstGeom prst="rect">
            <a:avLst/>
          </a:prstGeom>
          <a:solidFill>
            <a:srgbClr val="111B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107680" y="2080260"/>
            <a:ext cx="4572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180832" y="2144268"/>
            <a:ext cx="384048" cy="182880"/>
          </a:xfrm>
          <a:prstGeom prst="rect">
            <a:avLst/>
          </a:prstGeom>
          <a:solidFill>
            <a:srgbClr val="064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180832" y="21442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BO2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8601456" y="2125980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Netted Cash Control – Cash Equities / SBL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601456" y="2345436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Engine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8180832" y="2427732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180832" y="24277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8592312" y="2427732"/>
            <a:ext cx="365760" cy="128016"/>
          </a:xfrm>
          <a:prstGeom prst="rect">
            <a:avLst/>
          </a:prstGeom>
          <a:solidFill>
            <a:srgbClr val="1E293B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592312" y="24277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8107680" y="2642616"/>
            <a:ext cx="3962400" cy="512064"/>
          </a:xfrm>
          <a:prstGeom prst="rect">
            <a:avLst/>
          </a:prstGeom>
          <a:solidFill>
            <a:srgbClr val="0F1729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107680" y="2642616"/>
            <a:ext cx="4572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180832" y="2706624"/>
            <a:ext cx="384048" cy="182880"/>
          </a:xfrm>
          <a:prstGeom prst="rect">
            <a:avLst/>
          </a:prstGeom>
          <a:solidFill>
            <a:srgbClr val="064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180832" y="27066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BO3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8601456" y="2688336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vs HUB Cash Contra (EQD Contra/control)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8601456" y="2907792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 HUB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8180832" y="2990088"/>
            <a:ext cx="365760" cy="128016"/>
          </a:xfrm>
          <a:prstGeom prst="rect">
            <a:avLst/>
          </a:prstGeom>
          <a:solidFill>
            <a:srgbClr val="4C1D95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180832" y="29900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8592312" y="2990088"/>
            <a:ext cx="365760" cy="128016"/>
          </a:xfrm>
          <a:prstGeom prst="rect">
            <a:avLst/>
          </a:prstGeom>
          <a:solidFill>
            <a:srgbClr val="164E63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592312" y="299008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EQD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8107680" y="3204972"/>
            <a:ext cx="3962400" cy="512064"/>
          </a:xfrm>
          <a:prstGeom prst="rect">
            <a:avLst/>
          </a:prstGeom>
          <a:solidFill>
            <a:srgbClr val="111B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107680" y="3204972"/>
            <a:ext cx="4572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80832" y="3268980"/>
            <a:ext cx="384048" cy="182880"/>
          </a:xfrm>
          <a:prstGeom prst="rect">
            <a:avLst/>
          </a:prstGeom>
          <a:solidFill>
            <a:srgbClr val="064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180832" y="32689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BO4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8601456" y="3250692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vs HUB Cash Contra (L&amp;D)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8601456" y="3470148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 HUB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8180832" y="3552444"/>
            <a:ext cx="365760" cy="128016"/>
          </a:xfrm>
          <a:prstGeom prst="rect">
            <a:avLst/>
          </a:prstGeom>
          <a:solidFill>
            <a:srgbClr val="065F4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180832" y="355244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LnD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8107680" y="3767328"/>
            <a:ext cx="3962400" cy="512064"/>
          </a:xfrm>
          <a:prstGeom prst="rect">
            <a:avLst/>
          </a:prstGeom>
          <a:solidFill>
            <a:srgbClr val="0F1729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107680" y="3767328"/>
            <a:ext cx="4572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180832" y="3831336"/>
            <a:ext cx="384048" cy="182880"/>
          </a:xfrm>
          <a:prstGeom prst="rect">
            <a:avLst/>
          </a:prstGeom>
          <a:solidFill>
            <a:srgbClr val="064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180832" y="38313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BO5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8601456" y="3813048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vs SYN – Cash Equities / SBL Control</a:t>
            </a:r>
            <a:endParaRPr lang="en-US" sz="900" dirty="0"/>
          </a:p>
        </p:txBody>
      </p:sp>
      <p:sp>
        <p:nvSpPr>
          <p:cNvPr id="155" name="Text 153"/>
          <p:cNvSpPr/>
          <p:nvPr/>
        </p:nvSpPr>
        <p:spPr>
          <a:xfrm>
            <a:off x="8601456" y="4032504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 Synthesis (SYN)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8180832" y="4114800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8180832" y="411480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158" name="Shape 156"/>
          <p:cNvSpPr/>
          <p:nvPr/>
        </p:nvSpPr>
        <p:spPr>
          <a:xfrm>
            <a:off x="8592312" y="4114800"/>
            <a:ext cx="365760" cy="128016"/>
          </a:xfrm>
          <a:prstGeom prst="rect">
            <a:avLst/>
          </a:prstGeom>
          <a:solidFill>
            <a:srgbClr val="1E293B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592312" y="411480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8107680" y="4329684"/>
            <a:ext cx="3962400" cy="512064"/>
          </a:xfrm>
          <a:prstGeom prst="rect">
            <a:avLst/>
          </a:prstGeom>
          <a:solidFill>
            <a:srgbClr val="111B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107680" y="4329684"/>
            <a:ext cx="4572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180832" y="4393692"/>
            <a:ext cx="384048" cy="182880"/>
          </a:xfrm>
          <a:prstGeom prst="rect">
            <a:avLst/>
          </a:prstGeom>
          <a:solidFill>
            <a:srgbClr val="064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180832" y="43936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BO6</a:t>
            </a:r>
            <a:endParaRPr lang="en-US" sz="700" dirty="0"/>
          </a:p>
        </p:txBody>
      </p:sp>
      <p:sp>
        <p:nvSpPr>
          <p:cNvPr id="164" name="Text 162"/>
          <p:cNvSpPr/>
          <p:nvPr/>
        </p:nvSpPr>
        <p:spPr>
          <a:xfrm>
            <a:off x="8601456" y="4375404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Fidessa vs Fiscal vs FTP – Cash Equity</a:t>
            </a:r>
            <a:endParaRPr lang="en-US" sz="900" dirty="0"/>
          </a:p>
        </p:txBody>
      </p:sp>
      <p:sp>
        <p:nvSpPr>
          <p:cNvPr id="165" name="Text 163"/>
          <p:cNvSpPr/>
          <p:nvPr/>
        </p:nvSpPr>
        <p:spPr>
          <a:xfrm>
            <a:off x="8601456" y="4594860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Fidessa / Fiscal / FTP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8180832" y="4677156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8180832" y="467715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168" name="Shape 166"/>
          <p:cNvSpPr/>
          <p:nvPr/>
        </p:nvSpPr>
        <p:spPr>
          <a:xfrm>
            <a:off x="8107680" y="4892040"/>
            <a:ext cx="3962400" cy="512064"/>
          </a:xfrm>
          <a:prstGeom prst="rect">
            <a:avLst/>
          </a:prstGeom>
          <a:solidFill>
            <a:srgbClr val="0F1729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107680" y="4892040"/>
            <a:ext cx="4572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180832" y="4956048"/>
            <a:ext cx="384048" cy="182880"/>
          </a:xfrm>
          <a:prstGeom prst="rect">
            <a:avLst/>
          </a:prstGeom>
          <a:solidFill>
            <a:srgbClr val="064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180832" y="49560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BO7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8601456" y="4937760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COMPTA Rec – Cash Equities / SBL</a:t>
            </a:r>
            <a:endParaRPr lang="en-US" sz="900" dirty="0"/>
          </a:p>
        </p:txBody>
      </p:sp>
      <p:sp>
        <p:nvSpPr>
          <p:cNvPr id="173" name="Text 171"/>
          <p:cNvSpPr/>
          <p:nvPr/>
        </p:nvSpPr>
        <p:spPr>
          <a:xfrm>
            <a:off x="8601456" y="5157216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/ COMPTA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8180832" y="5239512"/>
            <a:ext cx="365760" cy="128016"/>
          </a:xfrm>
          <a:prstGeom prst="rect">
            <a:avLst/>
          </a:prstGeom>
          <a:solidFill>
            <a:srgbClr val="1E3A8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8180832" y="523951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CEQ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8592312" y="5239512"/>
            <a:ext cx="365760" cy="128016"/>
          </a:xfrm>
          <a:prstGeom prst="rect">
            <a:avLst/>
          </a:prstGeom>
          <a:solidFill>
            <a:srgbClr val="1E293B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8592312" y="523951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SBL</a:t>
            </a:r>
            <a:endParaRPr lang="en-US" sz="650" dirty="0"/>
          </a:p>
        </p:txBody>
      </p:sp>
      <p:sp>
        <p:nvSpPr>
          <p:cNvPr id="178" name="Shape 176"/>
          <p:cNvSpPr/>
          <p:nvPr/>
        </p:nvSpPr>
        <p:spPr>
          <a:xfrm>
            <a:off x="8107680" y="5454396"/>
            <a:ext cx="3962400" cy="512064"/>
          </a:xfrm>
          <a:prstGeom prst="rect">
            <a:avLst/>
          </a:prstGeom>
          <a:solidFill>
            <a:srgbClr val="111B3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107680" y="5454396"/>
            <a:ext cx="4572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180832" y="5518404"/>
            <a:ext cx="384048" cy="182880"/>
          </a:xfrm>
          <a:prstGeom prst="rect">
            <a:avLst/>
          </a:prstGeom>
          <a:solidFill>
            <a:srgbClr val="064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8180832" y="551840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BO8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8601456" y="5500116"/>
            <a:ext cx="3395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Washbook '0006 Fiscal account' – Market Charges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8601456" y="5719572"/>
            <a:ext cx="339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Washbook / Fiscal 0006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8180832" y="5801868"/>
            <a:ext cx="365760" cy="128016"/>
          </a:xfrm>
          <a:prstGeom prst="rect">
            <a:avLst/>
          </a:prstGeom>
          <a:solidFill>
            <a:srgbClr val="1F2937"/>
          </a:solidFill>
          <a:ln w="10160">
            <a:solidFill>
              <a:srgbClr val="6B728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8180832" y="58018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4062984" y="1207008"/>
            <a:ext cx="36576" cy="201168"/>
          </a:xfrm>
          <a:prstGeom prst="rect">
            <a:avLst/>
          </a:prstGeom>
          <a:solidFill>
            <a:srgbClr val="0EA5E9">
              <a:alpha val="6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071104" y="1207008"/>
            <a:ext cx="36576" cy="201168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080F"/>
          </a:solidFill>
          <a:ln w="12700">
            <a:solidFill>
              <a:srgbClr val="06080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CASHFOARE  ·  ACT  ·  OMRC AI/ML  ·  April 2026  ·  CONFIDENTIAL  |  Slide 1 of 2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F2A52"/>
          </a:solidFill>
          <a:ln w="12700">
            <a:solidFill>
              <a:srgbClr val="0F2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Ownership Rationale  ·  Classification Logic &amp; ML Implications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rec sits in FO / MO / BO — and what it means for the false break ML model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04120" y="118872"/>
            <a:ext cx="1920240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04120" y="1188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 ·  OMRC AI/ML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1440" y="731520"/>
            <a:ext cx="3962400" cy="2468880"/>
          </a:xfrm>
          <a:prstGeom prst="rect">
            <a:avLst/>
          </a:prstGeom>
          <a:solidFill>
            <a:srgbClr val="0D1629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" y="731520"/>
            <a:ext cx="3962400" cy="365760"/>
          </a:xfrm>
          <a:prstGeom prst="rect">
            <a:avLst/>
          </a:prstGeom>
          <a:solidFill>
            <a:srgbClr val="0C3A58"/>
          </a:solidFill>
          <a:ln w="12700">
            <a:solidFill>
              <a:srgbClr val="0C3A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" y="731520"/>
            <a:ext cx="39624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" y="795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" y="850392"/>
            <a:ext cx="313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" y="1152144"/>
            <a:ext cx="384048" cy="146304"/>
          </a:xfrm>
          <a:prstGeom prst="rect">
            <a:avLst/>
          </a:prstGeom>
          <a:solidFill>
            <a:srgbClr val="0C2D45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FO1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49224" y="1152144"/>
            <a:ext cx="384048" cy="146304"/>
          </a:xfrm>
          <a:prstGeom prst="rect">
            <a:avLst/>
          </a:prstGeom>
          <a:solidFill>
            <a:srgbClr val="0C2D45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FO2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078992" y="1152144"/>
            <a:ext cx="384048" cy="146304"/>
          </a:xfrm>
          <a:prstGeom prst="rect">
            <a:avLst/>
          </a:prstGeom>
          <a:solidFill>
            <a:srgbClr val="0C2D45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FO3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82880" y="1371600"/>
            <a:ext cx="3779520" cy="13716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1389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Ownership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1168" y="15453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Desk / FO Control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182880" y="1828800"/>
            <a:ext cx="3779520" cy="13716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1847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Triggered by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01168" y="20025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execution, booking, position confirmation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182880" y="2286000"/>
            <a:ext cx="3779520" cy="13716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2304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Break causes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01168" y="24597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unconfirmed trades; corporate action timing; ETD margin/premium lag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82880" y="2743200"/>
            <a:ext cx="3779520" cy="13716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2761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signal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01168" y="29169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break_age_days low (&lt; T+2); rolling_7d_autoclose_rate high — most FO breaks are timing artefacts that auto-resolve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82880" y="3200400"/>
            <a:ext cx="3779520" cy="13716"/>
          </a:xfrm>
          <a:prstGeom prst="rect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3218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feature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01168" y="33741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rolling_7d_autoclose_rate, time_to_ex_div (FO2), upstream_fo3_break cross-rec flag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099560" y="731520"/>
            <a:ext cx="3962400" cy="2468880"/>
          </a:xfrm>
          <a:prstGeom prst="rect">
            <a:avLst/>
          </a:prstGeom>
          <a:solidFill>
            <a:srgbClr val="0D1629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099560" y="731520"/>
            <a:ext cx="3962400" cy="365760"/>
          </a:xfrm>
          <a:prstGeom prst="rect">
            <a:avLst/>
          </a:prstGeom>
          <a:solidFill>
            <a:srgbClr val="5C3A00"/>
          </a:solidFill>
          <a:ln w="12700">
            <a:solidFill>
              <a:srgbClr val="5C3A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99560" y="731520"/>
            <a:ext cx="3962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27576" y="795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794504" y="850392"/>
            <a:ext cx="313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OFFICE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27576" y="1152144"/>
            <a:ext cx="384048" cy="146304"/>
          </a:xfrm>
          <a:prstGeom prst="rect">
            <a:avLst/>
          </a:prstGeom>
          <a:solidFill>
            <a:srgbClr val="432A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27576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MO1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657344" y="1152144"/>
            <a:ext cx="384048" cy="146304"/>
          </a:xfrm>
          <a:prstGeom prst="rect">
            <a:avLst/>
          </a:prstGeom>
          <a:solidFill>
            <a:srgbClr val="432A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57344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MO2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087112" y="1152144"/>
            <a:ext cx="384048" cy="146304"/>
          </a:xfrm>
          <a:prstGeom prst="rect">
            <a:avLst/>
          </a:prstGeom>
          <a:solidFill>
            <a:srgbClr val="432A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7112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MO3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516880" y="1152144"/>
            <a:ext cx="384048" cy="146304"/>
          </a:xfrm>
          <a:prstGeom prst="rect">
            <a:avLst/>
          </a:prstGeom>
          <a:solidFill>
            <a:srgbClr val="432A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6880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MO4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946648" y="1152144"/>
            <a:ext cx="384048" cy="146304"/>
          </a:xfrm>
          <a:prstGeom prst="rect">
            <a:avLst/>
          </a:prstGeom>
          <a:solidFill>
            <a:srgbClr val="432A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6648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MO5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376416" y="1152144"/>
            <a:ext cx="384048" cy="146304"/>
          </a:xfrm>
          <a:prstGeom prst="rect">
            <a:avLst/>
          </a:prstGeom>
          <a:solidFill>
            <a:srgbClr val="432A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6416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MO6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4191000" y="1371600"/>
            <a:ext cx="3779520" cy="1371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9288" y="1389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Ownership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209288" y="15453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/ Product Control / Risk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4191000" y="1828800"/>
            <a:ext cx="3779520" cy="1371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9288" y="1847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Triggered by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209288" y="20025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sign-off, MTM validation, funding reconciliation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4191000" y="2286000"/>
            <a:ext cx="3779520" cy="1371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09288" y="2304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Break causes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209288" y="24597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differences between risk system and FTP; P&amp;L attribution gaps; inherited from FO breaks upstream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191000" y="2743200"/>
            <a:ext cx="3779520" cy="1371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9288" y="2761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signal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209288" y="29169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proportion of false breaks are inherited from FO layer — upstream_fo1_break and upstream_fo3_break are key predictors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4191000" y="3200400"/>
            <a:ext cx="3779520" cy="13716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09288" y="3218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feature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209288" y="33741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upstream_fo1_break, upstream_fo3_break, mad_score (segment outlier), entity_hist_fp_rate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8107680" y="731520"/>
            <a:ext cx="3962400" cy="2468880"/>
          </a:xfrm>
          <a:prstGeom prst="rect">
            <a:avLst/>
          </a:prstGeom>
          <a:solidFill>
            <a:srgbClr val="0D1629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107680" y="731520"/>
            <a:ext cx="3962400" cy="365760"/>
          </a:xfrm>
          <a:prstGeom prst="rect">
            <a:avLst/>
          </a:prstGeom>
          <a:solidFill>
            <a:srgbClr val="064030"/>
          </a:solidFill>
          <a:ln w="12700">
            <a:solidFill>
              <a:srgbClr val="06403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107680" y="731520"/>
            <a:ext cx="39624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35696" y="795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802624" y="850392"/>
            <a:ext cx="313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235696" y="1152144"/>
            <a:ext cx="384048" cy="146304"/>
          </a:xfrm>
          <a:prstGeom prst="rect">
            <a:avLst/>
          </a:prstGeom>
          <a:solidFill>
            <a:srgbClr val="0433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35696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BO1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8665464" y="1152144"/>
            <a:ext cx="384048" cy="146304"/>
          </a:xfrm>
          <a:prstGeom prst="rect">
            <a:avLst/>
          </a:prstGeom>
          <a:solidFill>
            <a:srgbClr val="0433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65464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BO2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095232" y="1152144"/>
            <a:ext cx="384048" cy="146304"/>
          </a:xfrm>
          <a:prstGeom prst="rect">
            <a:avLst/>
          </a:prstGeom>
          <a:solidFill>
            <a:srgbClr val="0433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095232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BO3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9525000" y="1152144"/>
            <a:ext cx="384048" cy="146304"/>
          </a:xfrm>
          <a:prstGeom prst="rect">
            <a:avLst/>
          </a:prstGeom>
          <a:solidFill>
            <a:srgbClr val="0433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525000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BO4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954768" y="1152144"/>
            <a:ext cx="384048" cy="146304"/>
          </a:xfrm>
          <a:prstGeom prst="rect">
            <a:avLst/>
          </a:prstGeom>
          <a:solidFill>
            <a:srgbClr val="0433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954768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BO5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10384536" y="1152144"/>
            <a:ext cx="384048" cy="146304"/>
          </a:xfrm>
          <a:prstGeom prst="rect">
            <a:avLst/>
          </a:prstGeom>
          <a:solidFill>
            <a:srgbClr val="0433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384536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BO6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10814304" y="1152144"/>
            <a:ext cx="384048" cy="146304"/>
          </a:xfrm>
          <a:prstGeom prst="rect">
            <a:avLst/>
          </a:prstGeom>
          <a:solidFill>
            <a:srgbClr val="0433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814304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BO7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11244072" y="1152144"/>
            <a:ext cx="384048" cy="146304"/>
          </a:xfrm>
          <a:prstGeom prst="rect">
            <a:avLst/>
          </a:prstGeom>
          <a:solidFill>
            <a:srgbClr val="04332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244072" y="11521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BO8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8199120" y="1371600"/>
            <a:ext cx="3779520" cy="1371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17408" y="1389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Ownership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8217408" y="15453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/ Settlements / Accounting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8199120" y="1828800"/>
            <a:ext cx="3779520" cy="1371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17408" y="1847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Triggered by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8217408" y="20025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settlement, accounting entry posting, nostro control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8199120" y="2286000"/>
            <a:ext cx="3779520" cy="1371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17408" y="2304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Break causes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8217408" y="24597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timing (T+1/T+2); duplicate postings; COMPTA entry missing; fiscal account artefacts</a:t>
            </a:r>
            <a:endParaRPr lang="en-US" sz="780" dirty="0"/>
          </a:p>
        </p:txBody>
      </p:sp>
      <p:sp>
        <p:nvSpPr>
          <p:cNvPr id="96" name="Shape 94"/>
          <p:cNvSpPr/>
          <p:nvPr/>
        </p:nvSpPr>
        <p:spPr>
          <a:xfrm>
            <a:off x="8199120" y="2743200"/>
            <a:ext cx="3779520" cy="1371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217408" y="27614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signal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8217408" y="29169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rec group (8 recs); most breaks are cascade from FO. offsetting_break_exists and upstream_fo1_break are primary FP signals</a:t>
            </a:r>
            <a:endParaRPr lang="en-US" sz="780" dirty="0"/>
          </a:p>
        </p:txBody>
      </p:sp>
      <p:sp>
        <p:nvSpPr>
          <p:cNvPr id="99" name="Shape 97"/>
          <p:cNvSpPr/>
          <p:nvPr/>
        </p:nvSpPr>
        <p:spPr>
          <a:xfrm>
            <a:off x="8199120" y="3200400"/>
            <a:ext cx="3779520" cy="13716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17408" y="3218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feature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8217408" y="3374136"/>
            <a:ext cx="3724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offsetting_break_exists, upstream_fo1_break, governance_completeness_score, dq_score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91440" y="3364992"/>
            <a:ext cx="11978640" cy="3273552"/>
          </a:xfrm>
          <a:prstGeom prst="rect">
            <a:avLst/>
          </a:prstGeom>
          <a:solidFill>
            <a:srgbClr val="0B182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01168" y="3419856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LIFECYCLE  ·  Break Propagation Direction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28016" y="3566160"/>
            <a:ext cx="1611957" cy="3017520"/>
          </a:xfrm>
          <a:prstGeom prst="rect">
            <a:avLst/>
          </a:prstGeom>
          <a:solidFill>
            <a:srgbClr val="0C2D4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46304" y="3602736"/>
            <a:ext cx="157538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executes trade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46304" y="5111496"/>
            <a:ext cx="1575381" cy="132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position confirmed</a:t>
            </a:r>
            <a:endParaRPr lang="en-US" sz="680" dirty="0"/>
          </a:p>
        </p:txBody>
      </p:sp>
      <p:sp>
        <p:nvSpPr>
          <p:cNvPr id="107" name="Text 105"/>
          <p:cNvSpPr/>
          <p:nvPr/>
        </p:nvSpPr>
        <p:spPr>
          <a:xfrm>
            <a:off x="1776549" y="3593592"/>
            <a:ext cx="1685109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8" name="Shape 106"/>
          <p:cNvSpPr/>
          <p:nvPr/>
        </p:nvSpPr>
        <p:spPr>
          <a:xfrm>
            <a:off x="3498233" y="3566160"/>
            <a:ext cx="1611957" cy="3017520"/>
          </a:xfrm>
          <a:prstGeom prst="rect">
            <a:avLst/>
          </a:prstGeom>
          <a:solidFill>
            <a:srgbClr val="432A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516521" y="3602736"/>
            <a:ext cx="157538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validates P&amp;L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3516521" y="5111496"/>
            <a:ext cx="1575381" cy="132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MTM / valuation / funding signed off</a:t>
            </a:r>
            <a:endParaRPr lang="en-US" sz="680" dirty="0"/>
          </a:p>
        </p:txBody>
      </p:sp>
      <p:sp>
        <p:nvSpPr>
          <p:cNvPr id="111" name="Text 109"/>
          <p:cNvSpPr/>
          <p:nvPr/>
        </p:nvSpPr>
        <p:spPr>
          <a:xfrm>
            <a:off x="5146766" y="3593592"/>
            <a:ext cx="1685109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2" name="Shape 110"/>
          <p:cNvSpPr/>
          <p:nvPr/>
        </p:nvSpPr>
        <p:spPr>
          <a:xfrm>
            <a:off x="6868450" y="3566160"/>
            <a:ext cx="1611957" cy="3017520"/>
          </a:xfrm>
          <a:prstGeom prst="rect">
            <a:avLst/>
          </a:prstGeom>
          <a:solidFill>
            <a:srgbClr val="0433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886738" y="3602736"/>
            <a:ext cx="157538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settles cash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6886738" y="5111496"/>
            <a:ext cx="1575381" cy="132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/ COMPTA / nostro posted</a:t>
            </a:r>
            <a:endParaRPr lang="en-US" sz="680" dirty="0"/>
          </a:p>
        </p:txBody>
      </p:sp>
      <p:sp>
        <p:nvSpPr>
          <p:cNvPr id="115" name="Text 113"/>
          <p:cNvSpPr/>
          <p:nvPr/>
        </p:nvSpPr>
        <p:spPr>
          <a:xfrm>
            <a:off x="8516983" y="3593592"/>
            <a:ext cx="1685109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800" dirty="0"/>
          </a:p>
        </p:txBody>
      </p:sp>
      <p:sp>
        <p:nvSpPr>
          <p:cNvPr id="116" name="Shape 114"/>
          <p:cNvSpPr/>
          <p:nvPr/>
        </p:nvSpPr>
        <p:spPr>
          <a:xfrm>
            <a:off x="10238667" y="3566160"/>
            <a:ext cx="1611957" cy="3017520"/>
          </a:xfrm>
          <a:prstGeom prst="rect">
            <a:avLst/>
          </a:prstGeom>
          <a:solidFill>
            <a:srgbClr val="450A0A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256955" y="3602736"/>
            <a:ext cx="1575381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cascades downstream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10256955" y="5111496"/>
            <a:ext cx="1575381" cy="132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break → MO recs → BO recs</a:t>
            </a:r>
            <a:endParaRPr lang="en-US" sz="680" dirty="0"/>
          </a:p>
        </p:txBody>
      </p:sp>
      <p:sp>
        <p:nvSpPr>
          <p:cNvPr id="119" name="Shape 11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6080F"/>
          </a:solidFill>
          <a:ln w="12700">
            <a:solidFill>
              <a:srgbClr val="06080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CASHFOARE  ·  ACT  ·  OMRC AI/ML  ·  April 2026  ·  CONFIDENTIAL  |  Slide 2 of 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2026-04-06T21:08:13Z</dcterms:created>
  <dcterms:modified xsi:type="dcterms:W3CDTF">2026-04-06T21:08:13Z</dcterms:modified>
</cp:coreProperties>
</file>