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Product-to-Reconciliation Coverage Matrix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37490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recs cover CEQ · LnD · MTN · OTC  —  and where are the gaps?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75520" y="128016"/>
            <a:ext cx="1920240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128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·  OMRC AI/ML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73609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7178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coverage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03120" y="736092"/>
            <a:ext cx="164592" cy="164592"/>
          </a:xfrm>
          <a:prstGeom prst="rect">
            <a:avLst/>
          </a:prstGeom>
          <a:solidFill>
            <a:srgbClr val="1D6B50"/>
          </a:solidFill>
          <a:ln w="12700">
            <a:solidFill>
              <a:srgbClr val="1D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7178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partial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94760" y="736092"/>
            <a:ext cx="164592" cy="164592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7178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inferred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0" y="736092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7178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⚠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78040" y="736092"/>
            <a:ext cx="16459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7178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19272" y="749808"/>
            <a:ext cx="1874520" cy="329184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7498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85232" y="749808"/>
            <a:ext cx="1874520" cy="329184"/>
          </a:xfrm>
          <a:prstGeom prst="rect">
            <a:avLst/>
          </a:prstGeom>
          <a:solidFill>
            <a:srgbClr val="065F46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7498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51192" y="749808"/>
            <a:ext cx="1874520" cy="329184"/>
          </a:xfrm>
          <a:prstGeom prst="rect">
            <a:avLst/>
          </a:prstGeom>
          <a:solidFill>
            <a:srgbClr val="78350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51192" y="7498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17152" y="749808"/>
            <a:ext cx="1874520" cy="329184"/>
          </a:xfrm>
          <a:prstGeom prst="rect">
            <a:avLst/>
          </a:prstGeom>
          <a:solidFill>
            <a:srgbClr val="4C1D9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7498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749808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1078992"/>
            <a:ext cx="118872" cy="1371600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4572" y="1307592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0" y="2450592"/>
            <a:ext cx="118872" cy="2345436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16200000">
            <a:off x="4572" y="3166110"/>
            <a:ext cx="22722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SETTLEMENT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0" y="4796028"/>
            <a:ext cx="118872" cy="2020824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 rot="16200000">
            <a:off x="4572" y="5349240"/>
            <a:ext cx="1947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/ VALUATION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0" y="6816852"/>
            <a:ext cx="118872" cy="397764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 rot="16200000">
            <a:off x="4572" y="6558534"/>
            <a:ext cx="3246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29768" y="1115568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" y="1165860"/>
            <a:ext cx="310896" cy="224028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165860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5488" y="1152144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– Equities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92424" y="1175004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92424" y="11750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358384" y="11750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11750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24344" y="11750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11750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290304" y="11750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90304" y="11750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" y="1440180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1490472"/>
            <a:ext cx="310896" cy="224028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" y="1490472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5488" y="1476756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– Dividend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92424" y="1499616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14996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358384" y="149961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8384" y="14996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324344" y="1499616"/>
            <a:ext cx="1728216" cy="205740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24344" y="14996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290304" y="149961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0304" y="14996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9768" y="1764792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7160" y="1815084"/>
            <a:ext cx="310896" cy="224028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1815084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5488" y="1801368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vs FTP – ETD Futures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92424" y="18242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92424" y="18242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358384" y="18242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8384" y="18242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324344" y="18242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24344" y="18242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290304" y="1824228"/>
            <a:ext cx="1728216" cy="2057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0304" y="18242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29768" y="2089404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" y="2139696"/>
            <a:ext cx="310896" cy="224028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7160" y="2139696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FO4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75488" y="2125980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Rec – CEQ / SED / SEF (FO feed)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92424" y="2148840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92424" y="21488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358384" y="21488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58384" y="21488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324344" y="21488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4344" y="21488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290304" y="21488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90304" y="21488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29768" y="2487168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7160" y="2537460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2537460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75488" y="2523744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Fiscal – Cash Equities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392424" y="2546604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92424" y="25466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358384" y="25466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58384" y="25466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324344" y="25466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24344" y="25466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9290304" y="254660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290304" y="254660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29768" y="2811780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37160" y="2862072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37160" y="2862072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75488" y="2848356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Netted Cash Control – CEQ / SBL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392424" y="2871216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92424" y="28712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358384" y="287121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358384" y="28712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324344" y="287121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324344" y="28712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9290304" y="287121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290304" y="287121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29768" y="3136392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37160" y="3186684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37160" y="3186684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475488" y="3172968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HUB – EQD Contra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392424" y="31958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392424" y="31958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358384" y="31958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58384" y="31958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324344" y="319582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324344" y="31958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9290304" y="3195828"/>
            <a:ext cx="1728216" cy="2057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290304" y="319582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29768" y="3461004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37160" y="3511296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37160" y="3511296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75488" y="3497580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HUB – L&amp;D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392424" y="35204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92424" y="35204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358384" y="3520440"/>
            <a:ext cx="1728216" cy="2057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358384" y="35204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7324344" y="35204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324344" y="35204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9290304" y="35204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290304" y="35204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429768" y="3785616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7160" y="3835908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7160" y="3835908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475488" y="3822192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SYN – Cash Equities / SBL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392424" y="3845052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392424" y="38450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5358384" y="3845052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358384" y="38450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7324344" y="3845052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324344" y="38450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9290304" y="3845052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290304" y="38450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429768" y="4110228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37160" y="4160520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37160" y="4160520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475488" y="4146804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vs Fiscal vs FTP – Cash Equity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3392424" y="4169664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392424" y="41696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5358384" y="41696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358384" y="41696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7324344" y="41696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324344" y="41696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9290304" y="41696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290304" y="41696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429768" y="4434840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37160" y="4485132"/>
            <a:ext cx="310896" cy="22402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37160" y="4485132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CS7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475488" y="4471416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COMPTA Rec – Cash Equities / SBL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392424" y="4494276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392424" y="44942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5358384" y="44942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58384" y="44942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7324344" y="44942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324344" y="44942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290304" y="44942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290304" y="44942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429768" y="4832604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37160" y="4882896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37160" y="4882896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PL1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475488" y="4869180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Rec – CEQ / SED / SEF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3392424" y="4892040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392424" y="48920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5358384" y="48920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358384" y="48920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7324344" y="48920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324344" y="48920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9290304" y="4892040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290304" y="489204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429768" y="5157216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37160" y="5207508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37160" y="5207508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PL2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475488" y="5193792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Cash Equity P&amp;L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3392424" y="5216652"/>
            <a:ext cx="1728216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392424" y="52166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5358384" y="5216652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358384" y="52166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7324344" y="5216652"/>
            <a:ext cx="1728216" cy="205740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324344" y="52166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9290304" y="5216652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290304" y="5216652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429768" y="5481828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37160" y="5532120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37160" y="5532120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PL3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475488" y="5518404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EQD P&amp;L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3392424" y="55412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392424" y="55412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5358384" y="55412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358384" y="55412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7324344" y="55412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324344" y="55412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9290304" y="5541264"/>
            <a:ext cx="1728216" cy="2057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290304" y="55412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429768" y="5806440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37160" y="5856732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37160" y="5856732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PL4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75488" y="5843016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ETD PnL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3392424" y="58658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392424" y="58658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5358384" y="58658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358384" y="58658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7324344" y="5865876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324344" y="58658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9290304" y="5865876"/>
            <a:ext cx="1728216" cy="2057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290304" y="5865876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429768" y="6131052"/>
            <a:ext cx="11731752" cy="324612"/>
          </a:xfrm>
          <a:prstGeom prst="rect">
            <a:avLst/>
          </a:prstGeom>
          <a:solidFill>
            <a:srgbClr val="0F17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37160" y="6181344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37160" y="6181344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PL5</a:t>
            </a:r>
            <a:endParaRPr lang="en-US" sz="700" dirty="0"/>
          </a:p>
        </p:txBody>
      </p:sp>
      <p:sp>
        <p:nvSpPr>
          <p:cNvPr id="218" name="Text 216"/>
          <p:cNvSpPr/>
          <p:nvPr/>
        </p:nvSpPr>
        <p:spPr>
          <a:xfrm>
            <a:off x="475488" y="6167628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Global1 vs FTP – HLR / Prime Services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3392424" y="6190488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3392424" y="619048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5358384" y="6190488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358384" y="619048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7324344" y="6190488"/>
            <a:ext cx="1728216" cy="205740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7324344" y="619048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9290304" y="6190488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290304" y="6190488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429768" y="6455664"/>
            <a:ext cx="11731752" cy="3246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37160" y="6505956"/>
            <a:ext cx="310896" cy="224028"/>
          </a:xfrm>
          <a:prstGeom prst="rect">
            <a:avLst/>
          </a:prstGeom>
          <a:solidFill>
            <a:srgbClr val="3B076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137160" y="6505956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PL6</a:t>
            </a:r>
            <a:endParaRPr lang="en-US" sz="700" dirty="0"/>
          </a:p>
        </p:txBody>
      </p:sp>
      <p:sp>
        <p:nvSpPr>
          <p:cNvPr id="230" name="Text 228"/>
          <p:cNvSpPr/>
          <p:nvPr/>
        </p:nvSpPr>
        <p:spPr>
          <a:xfrm>
            <a:off x="475488" y="6492240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Washbook '0006' – Market Charges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3392424" y="6515100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3392424" y="651510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5358384" y="6515100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358384" y="651510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7324344" y="6515100"/>
            <a:ext cx="1728216" cy="205740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324344" y="651510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9290304" y="6515100"/>
            <a:ext cx="1728216" cy="205740"/>
          </a:xfrm>
          <a:prstGeom prst="rect">
            <a:avLst/>
          </a:prstGeom>
          <a:solidFill>
            <a:srgbClr val="1D6B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290304" y="6515100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429768" y="6853428"/>
            <a:ext cx="11731752" cy="324612"/>
          </a:xfrm>
          <a:prstGeom prst="rect">
            <a:avLst/>
          </a:prstGeom>
          <a:solidFill>
            <a:srgbClr val="7F1D1D">
              <a:alpha val="6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37160" y="6903720"/>
            <a:ext cx="310896" cy="224028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37160" y="6903720"/>
            <a:ext cx="3108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MTN_GAP</a:t>
            </a:r>
            <a:endParaRPr lang="en-US" sz="700" dirty="0"/>
          </a:p>
        </p:txBody>
      </p:sp>
      <p:sp>
        <p:nvSpPr>
          <p:cNvPr id="242" name="Text 240"/>
          <p:cNvSpPr/>
          <p:nvPr/>
        </p:nvSpPr>
        <p:spPr>
          <a:xfrm>
            <a:off x="475488" y="6890004"/>
            <a:ext cx="2816352" cy="2514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MTN Dedicated Rec — NOT FOUND</a:t>
            </a:r>
            <a:endParaRPr lang="en-US" sz="850" dirty="0"/>
          </a:p>
        </p:txBody>
      </p:sp>
      <p:sp>
        <p:nvSpPr>
          <p:cNvPr id="243" name="Shape 241"/>
          <p:cNvSpPr/>
          <p:nvPr/>
        </p:nvSpPr>
        <p:spPr>
          <a:xfrm>
            <a:off x="3392424" y="69128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3392424" y="69128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45" name="Shape 243"/>
          <p:cNvSpPr/>
          <p:nvPr/>
        </p:nvSpPr>
        <p:spPr>
          <a:xfrm>
            <a:off x="5358384" y="69128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358384" y="69128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47" name="Shape 245"/>
          <p:cNvSpPr/>
          <p:nvPr/>
        </p:nvSpPr>
        <p:spPr>
          <a:xfrm>
            <a:off x="7324344" y="6912864"/>
            <a:ext cx="1728216" cy="205740"/>
          </a:xfrm>
          <a:prstGeom prst="rect">
            <a:avLst/>
          </a:prstGeom>
          <a:solidFill>
            <a:srgbClr val="7F1D1D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7324344" y="69128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</a:t>
            </a:r>
            <a:endParaRPr lang="en-US" sz="850" dirty="0"/>
          </a:p>
        </p:txBody>
      </p:sp>
      <p:sp>
        <p:nvSpPr>
          <p:cNvPr id="249" name="Shape 247"/>
          <p:cNvSpPr/>
          <p:nvPr/>
        </p:nvSpPr>
        <p:spPr>
          <a:xfrm>
            <a:off x="9290304" y="6912864"/>
            <a:ext cx="1728216" cy="205740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9290304" y="6912864"/>
            <a:ext cx="17282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51" name="Text 249"/>
          <p:cNvSpPr/>
          <p:nvPr/>
        </p:nvSpPr>
        <p:spPr>
          <a:xfrm>
            <a:off x="475488" y="726948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count (Primary + Shared):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3392424" y="7251192"/>
            <a:ext cx="1728216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3392424" y="725119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recs</a:t>
            </a:r>
            <a:endParaRPr lang="en-US" sz="900" dirty="0"/>
          </a:p>
        </p:txBody>
      </p:sp>
      <p:sp>
        <p:nvSpPr>
          <p:cNvPr id="254" name="Shape 252"/>
          <p:cNvSpPr/>
          <p:nvPr/>
        </p:nvSpPr>
        <p:spPr>
          <a:xfrm>
            <a:off x="5358384" y="7251192"/>
            <a:ext cx="1728216" cy="457200"/>
          </a:xfrm>
          <a:prstGeom prst="rect">
            <a:avLst/>
          </a:prstGeom>
          <a:solidFill>
            <a:srgbClr val="7F1D1D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5358384" y="725119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coverage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7324344" y="7251192"/>
            <a:ext cx="1728216" cy="457200"/>
          </a:xfrm>
          <a:prstGeom prst="rect">
            <a:avLst/>
          </a:prstGeom>
          <a:solidFill>
            <a:srgbClr val="7F1D1D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324344" y="725119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inferred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no dedicated rec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9290304" y="7251192"/>
            <a:ext cx="1728216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290304" y="725119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recs</a:t>
            </a:r>
            <a:endParaRPr lang="en-US" sz="900" dirty="0"/>
          </a:p>
        </p:txBody>
      </p:sp>
      <p:sp>
        <p:nvSpPr>
          <p:cNvPr id="260" name="Shape 258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ACT  ·  OMRC AI/ML  ·  April 2026  ·  CONFIDENTIAL  |  Slide 1 of 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Analysis  ·  Key Findings &amp; ML Implications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37490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coverage gaps mean for false break detection and the ML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75520" y="128016"/>
            <a:ext cx="1920240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128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·  OMRC AI/ML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651760" cy="1280160"/>
          </a:xfrm>
          <a:prstGeom prst="rect">
            <a:avLst/>
          </a:prstGeom>
          <a:solidFill>
            <a:srgbClr val="0F1729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265176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87168" y="850392"/>
            <a:ext cx="402336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8503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recs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5488" y="1188720"/>
            <a:ext cx="2432304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88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COVERED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1444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product — 9 recs across all 3 layers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FO: FOBO Equity + Dividend provide full trade pop coverage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 5 dedicated settlement recs give granular cash control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PL: P&amp;L Rec + Sophis FTP cover both MTM and cash P&amp;L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Richest feature set — ex-div proximity, SBL netting flags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246120" y="804672"/>
            <a:ext cx="2651760" cy="1280160"/>
          </a:xfrm>
          <a:prstGeom prst="rect">
            <a:avLst/>
          </a:prstGeom>
          <a:solidFill>
            <a:srgbClr val="0F1729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04672"/>
            <a:ext cx="265176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67528" y="850392"/>
            <a:ext cx="402336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8503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55848" y="1188720"/>
            <a:ext cx="2432304" cy="201168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188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COVERAGE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1444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dedicated rec: FLARE vs HUB Cash Contra – L&amp;D (CS layer)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coverage via Global1 vs FTP HLR and Washbook 0006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FO or PL layer rec for LnD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breaks in P&amp;L layer rely on shared/indirect recs only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risk: limited feature signal for LnD-specific FP detection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126480" y="804672"/>
            <a:ext cx="2651760" cy="1280160"/>
          </a:xfrm>
          <a:prstGeom prst="rect">
            <a:avLst/>
          </a:prstGeom>
          <a:solidFill>
            <a:srgbClr val="0F1729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04672"/>
            <a:ext cx="2651760" cy="347472"/>
          </a:xfrm>
          <a:prstGeom prst="rect">
            <a:avLst/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47888" y="850392"/>
            <a:ext cx="402336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8503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recs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236208" y="1188720"/>
            <a:ext cx="2432304" cy="201168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1188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6208" y="1444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MTN rec found in CASHFOARE suite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breaks inferred via Sophis vs FTP CEQ P&amp;L (shared)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Washbook 0006 captures some coupon/market charge artefacts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&amp; maturity-proximity breaks have no dedicated control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risk: MTN false breaks may be hidden inside CEQ/shared recs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9006840" y="804672"/>
            <a:ext cx="2651760" cy="1280160"/>
          </a:xfrm>
          <a:prstGeom prst="rect">
            <a:avLst/>
          </a:prstGeom>
          <a:solidFill>
            <a:srgbClr val="0F1729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06840" y="804672"/>
            <a:ext cx="2651760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568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128248" y="850392"/>
            <a:ext cx="402336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28248" y="8503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16568" y="1188720"/>
            <a:ext cx="2432304" cy="20116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16568" y="1188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COVERED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16568" y="14447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recs primarily covering OTC via ETD/EQD framework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FO: Fidessa vs FTP covers ETD population (futures/options)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 FLARE vs HUB EQD Contra for cash/margin control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PL: Sophis EQD + ETD PnL provide full valuation coverage</a:t>
            </a:r>
            <a:endParaRPr lang="en-US" sz="7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CSA margin call flag and lifecycle event are key FP features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65760" y="2212848"/>
            <a:ext cx="114300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IMPLICATIONS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77440" y="2212848"/>
            <a:ext cx="13716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22128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CEQ: 9 recs → richest cross-rec feature set    |    LnD: shared recs → add LnD-specific features (collateral type, rate reset)    |    MTN: NO dedicated rec → coupon/maturity proximity critical ML signals    |    OTC: CSA margin call + trade lifecycle event → key FP detection features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2542032"/>
            <a:ext cx="3718560" cy="4078224"/>
          </a:xfrm>
          <a:prstGeom prst="rect">
            <a:avLst/>
          </a:prstGeom>
          <a:solidFill>
            <a:srgbClr val="0F1729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2542032"/>
            <a:ext cx="50292" cy="40782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633472"/>
            <a:ext cx="35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MTN Critical Gap — Immediate Action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2935224"/>
            <a:ext cx="3535680" cy="13716"/>
          </a:xfrm>
          <a:prstGeom prst="rect">
            <a:avLst/>
          </a:prstGeom>
          <a:solidFill>
            <a:srgbClr val="DC2626">
              <a:alpha val="5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980944"/>
            <a:ext cx="3553968" cy="3547872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MTN reconciliation exists in the CASHFOARE suite. MTN breaks are currently inferred through Sophis vs FTP Cash Equity P&amp;L (shared) and Washbook 0006 market charges — both are indirect controls.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MTN coupon-proximity false breaks and maturity-event breaks have no dedicated control point. They are likely being misclassified as CEQ breaks or lost in shared recs.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Raise a rec gap finding with the ACT team. Until resolved, the ML model must treat MTN-tagged breaks in shared recs with elevated false-positive suspicion (coupon_payment_proximity &lt; 3 days → high FP probability).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221480" y="2542032"/>
            <a:ext cx="3718560" cy="4078224"/>
          </a:xfrm>
          <a:prstGeom prst="rect">
            <a:avLst/>
          </a:prstGeom>
          <a:solidFill>
            <a:srgbClr val="0F1729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21480" y="2542032"/>
            <a:ext cx="50292" cy="40782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12920" y="2633472"/>
            <a:ext cx="35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LnD Coverage Thin — Enhance ML Features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12920" y="2935224"/>
            <a:ext cx="3535680" cy="13716"/>
          </a:xfrm>
          <a:prstGeom prst="rect">
            <a:avLst/>
          </a:prstGeom>
          <a:solidFill>
            <a:srgbClr val="059669">
              <a:alpha val="5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12920" y="2980944"/>
            <a:ext cx="3553968" cy="3547872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LnD has only one dedicated rec (FLARE vs HUB L&amp;D) in the Cash &amp; Settlement layer. There is no FO-layer position rec and no dedicated PL-layer valuation rec for LnD.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LnD breaks have limited cross-rec signal for the ML model. The entity_hist_fp_rate and rec_hist_fp_rate features will be key compensating signals.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Add LnD-specific features: collateral_type_enc (Cash / Securities / Mixed), rate_reset_proximity, and funding_rate_reset_flag. These are the primary LnD false positive drivers and must be in the feature matrix even without a richer rec structure.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077200" y="2542032"/>
            <a:ext cx="3718560" cy="4078224"/>
          </a:xfrm>
          <a:prstGeom prst="rect">
            <a:avLst/>
          </a:prstGeom>
          <a:solidFill>
            <a:srgbClr val="0F1729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77200" y="2542032"/>
            <a:ext cx="50292" cy="40782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68640" y="2633472"/>
            <a:ext cx="35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OTC Cross-Rec Propagation — Highest Risk Chain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68640" y="2935224"/>
            <a:ext cx="3535680" cy="1371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68640" y="2980944"/>
            <a:ext cx="3553968" cy="3547872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has 5 recs but they span ETD and EQD sub-products with a known high-impact propagation chain: Fidessa vs FTP (FO) → FLARE vs HUB EQD (CS) → Sophis EQD P&amp;L and ETD PnL (PL).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 single ETD position break in Fidessa vs FTP creates breaks in 3 downstream recs simultaneously. Without the cross-rec dependency map, analysts investigate the same root cause 3×.</a:t>
            </a: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endParaRPr lang="en-US" sz="7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upstream_fo3_break flag (Fidessa vs FTP break exists for same entity + date) is the single highest-value cross-rec feature for scoring OTC breaks in CS and PL layers.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ACT  ·  OMRC AI/ML  ·  April 2026  ·  CONFIDENTIAL  |  Slide 2 of 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2026-04-06T21:01:53Z</dcterms:created>
  <dcterms:modified xsi:type="dcterms:W3CDTF">2026-04-06T21:01:53Z</dcterms:modified>
</cp:coreProperties>
</file>